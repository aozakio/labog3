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77" r:id="rId10"/>
    <p:sldId id="265" r:id="rId11"/>
    <p:sldId id="266" r:id="rId12"/>
    <p:sldId id="267" r:id="rId13"/>
    <p:sldId id="271" r:id="rId14"/>
    <p:sldId id="269" r:id="rId15"/>
    <p:sldId id="270" r:id="rId16"/>
    <p:sldId id="274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604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97280" y="1188720"/>
            <a:ext cx="6949440" cy="2834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97280" y="1325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LABO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7830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Automatisation de la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création des VMs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3200400" y="315468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Leatitia SADJI  ·  Clément BONZOM  ·  Samy MOURCHID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PROJET LABO 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8751A"/>
                </a:solidFill>
                <a:uFill>
                  <a:solidFill>
                    <a:srgbClr val="E875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Objectifs 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508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infrastructure permettant le déploiement automatique de machines virtuelles pour les étudiants et les projets pédagogiques grâce à Ansible.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8751A"/>
                </a:solidFill>
                <a:uFill>
                  <a:solidFill>
                    <a:srgbClr val="E875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 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2999232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Virtualisation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des déploiements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078992"/>
            <a:ext cx="0" cy="3657600"/>
          </a:xfrm>
          <a:prstGeom prst="line">
            <a:avLst/>
          </a:prstGeom>
          <a:noFill/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8751A"/>
                </a:solidFill>
                <a:uFill>
                  <a:solidFill>
                    <a:srgbClr val="E875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Fonctionnements 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508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automatique des VM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rapide des environnements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du temps d'installation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centralisée du laboratoire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E8751A"/>
                </a:solidFill>
                <a:uFill>
                  <a:solidFill>
                    <a:srgbClr val="E875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Avantages 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des configurations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flexible et évolutive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 le travail des étudiants et formateurs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1115568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115568"/>
            <a:ext cx="393192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8016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1252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17099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Hyperviseur open-source de type 1 permettant de créer et gérer des machines virtuelles via une interface web.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1115568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0" y="1115568"/>
            <a:ext cx="393192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28016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1252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754880" y="17099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d'automatisation open-source qui permet de configurer et déployer des serveurs automatiquement via SSH.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20040" y="29260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320040" y="2926080"/>
            <a:ext cx="393192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090672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058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Virtualisation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0292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permettant de faire tourner plusieurs systèmes d'exploitation indépendants sur un même serveur physique.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29260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5"/>
          <p:cNvSpPr/>
          <p:nvPr/>
        </p:nvSpPr>
        <p:spPr>
          <a:xfrm>
            <a:off x="4572000" y="2926080"/>
            <a:ext cx="393192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090672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5780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75488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tâches manuelles répétitives grâce à des scripts et playbooks pour déployer les VMs rapidement.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QUE PROXMOX VE 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188720" y="1115568"/>
            <a:ext cx="3453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1207009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Text 14"/>
          <p:cNvSpPr/>
          <p:nvPr/>
        </p:nvSpPr>
        <p:spPr>
          <a:xfrm>
            <a:off x="365760" y="1207009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94560" y="1207009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2331720" y="12070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Hyperviseur de type 1 — s'installe directement sur le matériel physique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65760" y="18653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194560" y="1872409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3" name="Text 20"/>
          <p:cNvSpPr/>
          <p:nvPr/>
        </p:nvSpPr>
        <p:spPr>
          <a:xfrm>
            <a:off x="2331720" y="18653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accessible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n'importe quel navigateur du </a:t>
            </a:r>
            <a:r>
              <a:rPr lang="en-US" sz="11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local</a:t>
            </a:r>
            <a:endParaRPr lang="en-US" sz="1150" b="1" dirty="0"/>
          </a:p>
        </p:txBody>
      </p:sp>
      <p:sp>
        <p:nvSpPr>
          <p:cNvPr id="25" name="Text 22"/>
          <p:cNvSpPr/>
          <p:nvPr/>
        </p:nvSpPr>
        <p:spPr>
          <a:xfrm>
            <a:off x="36576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377440" y="3108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65760" y="2583180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36576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194560" y="2580719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331720" y="2569113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disques, images ISO, snapshots et backups centralisée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65760" y="3266519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365760" y="3259485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194560" y="3266519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2331720" y="3259485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Gratuit, communauté active, largement utilisé en entreprise et en formation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QU'ANSIBLE 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188720" y="11155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1245694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65760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agent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94560" y="1245693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2331720" y="123865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ne nécessite aucune installation sur les machines cibles — il suffit d'avoir SSH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5760" y="1927274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65760" y="192727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194560" y="1927274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2331720" y="1947671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via SSH — sécurisé et sans dépendances supplémentaires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576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377440" y="3108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6576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377440" y="3749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65760" y="2655277"/>
            <a:ext cx="1828800" cy="5029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365760" y="2655277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194560" y="2651761"/>
            <a:ext cx="6583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2331720" y="2655277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utilisé en DevOps et en administration système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RÔLE D'ANSIBLE DANS LE PROJET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508760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des VMs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2057400"/>
            <a:ext cx="23774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automatique des machines virtuelles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Paramétrage des ressources (CPU, RAM, disque)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d'une IP et d'un nom de machine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5468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3154680" y="1508760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64592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49040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des serveurs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337560" y="2057400"/>
            <a:ext cx="23774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automatique des paquets nécessaires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du réseau et des services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 règles de sécurité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98932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5989320" y="1508760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4592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83680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des environnements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172200" y="2057400"/>
            <a:ext cx="23774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d'environnements prêts à l'emploi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Environnements identiques pour tous les étudiants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 considérable pour les formateurs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AVANTAGES D'ANSIBLE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78408" y="1280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rapide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177393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tâches répétitives sont automatisées — plus besoin de configurer chaque VM à la main.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5468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15468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9844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13048" y="1280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337560" y="177393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playbook déploie en quelques minutes ce qui prendrait des heures manuellement.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89320" y="1115568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598932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98448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47688" y="1280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centralisée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172200" y="177393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machines sont gérées depuis un seul endroit — vue d'ensemble complète.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20040" y="3054096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5"/>
          <p:cNvSpPr/>
          <p:nvPr/>
        </p:nvSpPr>
        <p:spPr>
          <a:xfrm>
            <a:off x="320040" y="3054096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36976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840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simple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02920" y="37124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playbooks YAML sont lisibles par tous, même sans expérience en programmation.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154680" y="3054096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3154680" y="3054096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36976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1304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337560" y="37124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environnements déployés sont identiques — plus les bugs liés aux configurations différentes.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989320" y="3054096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5989320" y="3054096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236976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47688" y="32186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Évolutivité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172200" y="37124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10 ou 100 VMs supplémentaires demande le même effort qu'en créer une seule.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RÉALISATION — VUE D'ENSEMBLE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417320"/>
            <a:ext cx="548640" cy="9144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14173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73352"/>
            <a:ext cx="411480" cy="4114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508760" y="1435608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1508760" y="1417320"/>
            <a:ext cx="73152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664208" y="148132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l'environnement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64208" y="18562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Matériel compatible (64 bits, RAM, stockage)   -   Téléchargement ISO Proxmox VE -  Création clé USB bootable avec Rufus (MBR/GPT)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2532888"/>
            <a:ext cx="548640" cy="9144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320040" y="2532888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88920"/>
            <a:ext cx="411480" cy="4114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508760" y="2532888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1508760" y="2532888"/>
            <a:ext cx="73152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1664208" y="259689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complète de Proxmox VE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664208" y="2871217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BIOS sur clé USB   -   Disque, système de fichiers, fuseau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horaire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  IP statique + accès interface web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20040" y="3648456"/>
            <a:ext cx="548640" cy="9144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320040" y="364845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04488"/>
            <a:ext cx="411480" cy="41148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1508760" y="3648456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28"/>
          <p:cNvSpPr/>
          <p:nvPr/>
        </p:nvSpPr>
        <p:spPr>
          <a:xfrm>
            <a:off x="1508760" y="3648456"/>
            <a:ext cx="73152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9"/>
          <p:cNvSpPr/>
          <p:nvPr/>
        </p:nvSpPr>
        <p:spPr>
          <a:xfrm>
            <a:off x="1664208" y="371246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du stockage &amp; import ISO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664208" y="40873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Répertoire de stockage -   Téléversement d'une ISO via l'interface web   -  Vérification disponibilité pour créer des VMs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ches realisees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1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d2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d3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d4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d5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d6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Titre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1A1A1A"/>
                </a:solidFill>
                <a:latin typeface="Arial Black" pitchFamily="34" charset="0"/>
              </a:rPr>
              <a:t>TÂCHES RÉALISÉES</a:t>
            </a:r>
          </a:p>
        </p:txBody>
      </p:sp>
      <p:sp>
        <p:nvSpPr>
          <p:cNvPr id="20" name="bg-col"/>
          <p:cNvSpPr/>
          <p:nvPr/>
        </p:nvSpPr>
        <p:spPr>
          <a:xfrm>
            <a:off x="320040" y="1188720"/>
            <a:ext cx="548640" cy="274320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0" name="card-c1"/>
          <p:cNvSpPr/>
          <p:nvPr/>
        </p:nvSpPr>
        <p:spPr>
          <a:xfrm>
            <a:off x="960120" y="1188720"/>
            <a:ext cx="7863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1" name="txt-c1"/>
          <p:cNvSpPr/>
          <p:nvPr/>
        </p:nvSpPr>
        <p:spPr>
          <a:xfrm>
            <a:off x="1097280" y="1234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1A1A1A"/>
                </a:solidFill>
                <a:latin typeface="Arial" pitchFamily="34" charset="0"/>
              </a:rPr>
              <a:t>Installation et configuration de Proxmox VE</a:t>
            </a:r>
            <a:endParaRPr lang="fr-FR" sz="1300" dirty="0"/>
          </a:p>
          <a:p>
            <a:pPr marL="0" indent="0">
              <a:buNone/>
            </a:pPr>
            <a:r>
              <a:rPr lang="fr-FR" sz="1050" dirty="0">
                <a:solidFill>
                  <a:srgbClr val="666666"/>
                </a:solidFill>
                <a:latin typeface="Arial" pitchFamily="34" charset="0"/>
              </a:rPr>
              <a:t>Compétences : virtualisation, administration système, réseau IP statique</a:t>
            </a:r>
            <a:endParaRPr lang="fr-FR" sz="1050" dirty="0"/>
          </a:p>
        </p:txBody>
      </p:sp>
      <p:sp>
        <p:nvSpPr>
          <p:cNvPr id="40" name="card-c2"/>
          <p:cNvSpPr/>
          <p:nvPr/>
        </p:nvSpPr>
        <p:spPr>
          <a:xfrm>
            <a:off x="960120" y="2057400"/>
            <a:ext cx="7863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1" name="txt-c2"/>
          <p:cNvSpPr/>
          <p:nvPr/>
        </p:nvSpPr>
        <p:spPr>
          <a:xfrm>
            <a:off x="109728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1A1A1A"/>
                </a:solidFill>
                <a:latin typeface="Arial" pitchFamily="34" charset="0"/>
              </a:rPr>
              <a:t>Configuration du stockage et import d'ISO</a:t>
            </a:r>
            <a:endParaRPr lang="fr-FR" sz="1300" dirty="0"/>
          </a:p>
          <a:p>
            <a:pPr marL="0" indent="0">
              <a:buNone/>
            </a:pPr>
            <a:r>
              <a:rPr lang="fr-FR" sz="1050" dirty="0">
                <a:solidFill>
                  <a:srgbClr val="666666"/>
                </a:solidFill>
                <a:latin typeface="Arial" pitchFamily="34" charset="0"/>
              </a:rPr>
              <a:t>Compétences : gestion fichiers Linux, interface web Proxmox, organisation stockage</a:t>
            </a:r>
            <a:endParaRPr lang="fr-FR" sz="1050" dirty="0"/>
          </a:p>
        </p:txBody>
      </p:sp>
      <p:sp>
        <p:nvSpPr>
          <p:cNvPr id="50" name="card-c3"/>
          <p:cNvSpPr/>
          <p:nvPr/>
        </p:nvSpPr>
        <p:spPr>
          <a:xfrm>
            <a:off x="960120" y="2926080"/>
            <a:ext cx="7863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1" name="txt-c3"/>
          <p:cNvSpPr/>
          <p:nvPr/>
        </p:nvSpPr>
        <p:spPr>
          <a:xfrm>
            <a:off x="1097280" y="2971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dirty="0">
                <a:solidFill>
                  <a:srgbClr val="1A1A1A"/>
                </a:solidFill>
                <a:latin typeface="Arial" pitchFamily="34" charset="0"/>
              </a:rPr>
              <a:t>Recherche documentaire et présentation du projet</a:t>
            </a:r>
            <a:endParaRPr lang="fr-FR" sz="1300" dirty="0"/>
          </a:p>
          <a:p>
            <a:pPr marL="0" indent="0">
              <a:buNone/>
            </a:pPr>
            <a:r>
              <a:rPr lang="fr-FR" sz="1050" dirty="0">
                <a:solidFill>
                  <a:srgbClr val="666666"/>
                </a:solidFill>
                <a:latin typeface="Arial" pitchFamily="34" charset="0"/>
              </a:rPr>
              <a:t>Compétences : communication, PowerPoint, rédaction technique, travail en équipe</a:t>
            </a:r>
            <a:endParaRPr lang="fr-FR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1 — PRÉPARATION DE L'ENVIRONNEMENT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65760" y="1234440"/>
            <a:ext cx="2011680" cy="548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6576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Matériel requis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77440" y="1234440"/>
            <a:ext cx="6309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2542032" y="1234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compatible 64 bits, minimum 4 Go RAM, disque dédié pour Proxmox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1947672"/>
            <a:ext cx="2011680" cy="548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65760" y="19476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Proxmox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377440" y="1947672"/>
            <a:ext cx="6309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542032" y="19476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Téléchargement de l'image officielle Proxmox VE 8.4 sur proxmox.com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2660904"/>
            <a:ext cx="2011680" cy="548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65760" y="26609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Rufus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377440" y="2660904"/>
            <a:ext cx="6309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542032" y="26609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Logiciel</a:t>
            </a: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graver l'ISO sur une clé USB bootable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374136"/>
            <a:ext cx="2011680" cy="548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65760" y="33741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partition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377440" y="3374136"/>
            <a:ext cx="6309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2542032" y="33741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MBR pour BIOS /  GPT pour UEFI (selon le matériel)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4087368"/>
            <a:ext cx="2011680" cy="54864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365760" y="4087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377440" y="4087368"/>
            <a:ext cx="6309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2542032" y="40873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le boot de la clé avant de commencer l'installation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2 — INSTALLATION DE PROXMOX VE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47472" y="1243584"/>
            <a:ext cx="457200" cy="457200"/>
          </a:xfrm>
          <a:prstGeom prst="ellipse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47472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sur la clé USB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151790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 boot order dans le BIOS/UEFI pour démarrer sur la clé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" y="1719072"/>
            <a:ext cx="0" cy="201168"/>
          </a:xfrm>
          <a:prstGeom prst="line">
            <a:avLst/>
          </a:prstGeom>
          <a:noFill/>
          <a:ln w="190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47472" y="1993392"/>
            <a:ext cx="457200" cy="457200"/>
          </a:xfrm>
          <a:prstGeom prst="ellipse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474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1920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du disque cible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22677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disque d'installation et le système de fichiers (ext4, ZFS)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7784" y="2468880"/>
            <a:ext cx="0" cy="201168"/>
          </a:xfrm>
          <a:prstGeom prst="line">
            <a:avLst/>
          </a:prstGeom>
          <a:noFill/>
          <a:ln w="190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347472" y="2743200"/>
            <a:ext cx="457200" cy="457200"/>
          </a:xfrm>
          <a:prstGeom prst="ellipse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474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012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régionaux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175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Pays, fuseau horaire Europe/Paris, disposition clavier Français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57784" y="3218688"/>
            <a:ext cx="0" cy="201168"/>
          </a:xfrm>
          <a:prstGeom prst="line">
            <a:avLst/>
          </a:prstGeom>
          <a:noFill/>
          <a:ln w="190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347472" y="3493008"/>
            <a:ext cx="457200" cy="457200"/>
          </a:xfrm>
          <a:prstGeom prst="ellipse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34747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60120" y="3419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&amp; compte root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60120" y="37673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statique 192.168.x.x · passerelle · DNS · mot de passe root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57784" y="3968496"/>
            <a:ext cx="0" cy="201168"/>
          </a:xfrm>
          <a:prstGeom prst="line">
            <a:avLst/>
          </a:prstGeom>
          <a:noFill/>
          <a:ln w="190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347472" y="4242816"/>
            <a:ext cx="457200" cy="457200"/>
          </a:xfrm>
          <a:prstGeom prst="ellipse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3474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60120" y="41696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à l'interface web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45171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depuis un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réseau local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3 — STOCKAGE &amp; IMPORT D'ISO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20040" y="1207008"/>
            <a:ext cx="502920" cy="713232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20040" y="12070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1207008"/>
            <a:ext cx="8001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822960" y="1207008"/>
            <a:ext cx="80010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987552" y="1271016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Accéder au stockage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87552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de données → Stockage → Ajouter → Type "Répertoire"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2103120"/>
            <a:ext cx="502920" cy="713232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320040" y="2103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2960" y="2103120"/>
            <a:ext cx="8001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822960" y="2103120"/>
            <a:ext cx="80010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987552" y="2167128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le répertoire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87552" y="2468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: ISO  |  Chemin : /var/lib/vz/template/iso/  |  Contenu : Image ISO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" y="2999232"/>
            <a:ext cx="502920" cy="713232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20040" y="299923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2960" y="2999232"/>
            <a:ext cx="8001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822960" y="2999232"/>
            <a:ext cx="80010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987552" y="306324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Téléverser l'ISO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87552" y="3364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 le dossier ISO → onglet "Images ISO" → Téléverser → choisir le fichier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" y="3895344"/>
            <a:ext cx="502920" cy="713232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320040" y="389534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2960" y="3895344"/>
            <a:ext cx="8001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822960" y="3895344"/>
            <a:ext cx="800100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987552" y="3959352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87552" y="42611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L'ISO apparaît dans la liste — disponible pour créer une nouvelle VM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 QU'ON A APPRIS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1115568"/>
            <a:ext cx="26517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960120" y="12618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matériel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correctement le matériel compatible, comprendre le partitionnement et les systèmes de fichiers.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54680" y="1115568"/>
            <a:ext cx="26517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15468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3794760" y="12618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Virtualisation avec Proxmox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33756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et configurer un </a:t>
            </a:r>
            <a:r>
              <a:rPr lang="en-US" sz="10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hyperviseur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gérer des ressources virtuelles depuis une interface web.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89320" y="1115568"/>
            <a:ext cx="26517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5989320" y="1115568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6629400" y="12618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réseau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17220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place une IP statique, comprendre les sous-réseaux et la communication entre machines.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60120" y="31638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02920" y="36393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645920" y="3033699"/>
            <a:ext cx="26517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1647678" y="3017520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/>
          <p:nvPr/>
        </p:nvSpPr>
        <p:spPr>
          <a:xfrm>
            <a:off x="2217420" y="30906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2011680" y="34149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à diagnostiquer un problème, comprendre sa cause et appliquer une solution méthodique.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846320" y="3017520"/>
            <a:ext cx="26517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4844562" y="3031236"/>
            <a:ext cx="2651760" cy="64008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182112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63540" y="31089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en équipe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234940" y="3427769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des tâches, communication, entraide face aux difficultés techniques rencontrées.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ERREUR RENCONTRÉE — PARTITIONNEMENT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0040" y="1078992"/>
            <a:ext cx="8503920" cy="3085042"/>
          </a:xfrm>
          <a:prstGeom prst="rect">
            <a:avLst/>
          </a:prstGeom>
          <a:solidFill>
            <a:srgbClr val="FEF3F2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078992"/>
            <a:ext cx="182880" cy="308504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37160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installé sur un ordinateur personnel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58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31720" y="17373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a été installé sur un ordinateur personnel au lieu du serveur physique dédié.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8580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331720" y="23957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début du projet, nous ne maîtrisions pas bien le concept de disque cible lors de l'installation. Nous n'avions pas compris comment identifier correctement le disque sur lequel Proxmox allait s'installer.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30540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331720" y="30540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5800" y="326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Leçon 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286000" y="3261593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verifier le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disque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ERREUR RENCONTRÉE — PROBLÈME RÉSEAU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0040" y="1078992"/>
            <a:ext cx="8503920" cy="3474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078992"/>
            <a:ext cx="182880" cy="3474720"/>
          </a:xfrm>
          <a:prstGeom prst="rect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640080" cy="640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d'accéder à l'interface web Proxmox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58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31720" y="17373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installation, impossible d'ouvrir l'interface web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PC client.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8580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331720" y="23957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serveur Proxmox et l'ordinateur client n'étaient pas sur le même réseau local — ils ne pouvaient pas communiquer.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30540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Symptômes 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331720" y="30540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de </a:t>
            </a: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inaccessible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5800" y="37124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331720" y="371246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les deux machines sur le même réseau local (câble Ethernet direct ou même switch/routeur). Vérifier que l'IP configurée correspond bien au sous-réseau du client.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0" y="877824"/>
            <a:ext cx="2743200" cy="0"/>
          </a:xfrm>
          <a:prstGeom prst="line">
            <a:avLst/>
          </a:prstGeom>
          <a:noFill/>
          <a:ln w="381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111556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111556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installé et opérationnel sur le serveur physique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1810512"/>
            <a:ext cx="8412480" cy="566928"/>
          </a:xfrm>
          <a:prstGeom prst="rect">
            <a:avLst/>
          </a:prstGeom>
          <a:solidFill>
            <a:srgbClr val="FDF0E4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18288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accessible depuis le réseau local 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65760" y="254203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3347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5420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configuré et ISO importée — prêt à créer des VMs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65760" y="3255264"/>
            <a:ext cx="8412480" cy="566928"/>
          </a:xfrm>
          <a:prstGeom prst="rect">
            <a:avLst/>
          </a:prstGeom>
          <a:solidFill>
            <a:srgbClr val="FDF0E4"/>
          </a:solidFill>
          <a:ln w="12700">
            <a:solidFill>
              <a:srgbClr val="E8C9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4670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2552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identifiées, comprises et corrigées (partitionnement &amp; réseau)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396849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7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3152"/>
            <a:ext cx="14630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961120" y="73152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0" y="6400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0" y="566928"/>
            <a:ext cx="73152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128016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0" cy="54864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0" cy="36576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548640" cy="0"/>
          </a:xfrm>
          <a:prstGeom prst="line">
            <a:avLst/>
          </a:prstGeom>
          <a:noFill/>
          <a:ln w="3175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66689" y="120015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ATTENTION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3052689" y="2676379"/>
            <a:ext cx="2743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66689" y="296845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Leatitia SADJI  ·  Clément BONZOM  ·  Samy MOURCHID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Affichage à l'écran (16:9)</PresentationFormat>
  <Paragraphs>168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Labo — Automatisation des VMs</dc:title>
  <dc:subject>PptxGenJS Presentation</dc:subject>
  <dc:creator>PptxGenJS</dc:creator>
  <cp:lastModifiedBy>SADJI Leatitia</cp:lastModifiedBy>
  <cp:revision>3</cp:revision>
  <dcterms:created xsi:type="dcterms:W3CDTF">2026-05-21T09:48:05Z</dcterms:created>
  <dcterms:modified xsi:type="dcterms:W3CDTF">2026-05-22T10:03:23Z</dcterms:modified>
</cp:coreProperties>
</file>